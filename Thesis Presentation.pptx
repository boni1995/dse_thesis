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5" r:id="rId6"/>
    <p:sldId id="263" r:id="rId7"/>
    <p:sldId id="261" r:id="rId8"/>
    <p:sldId id="266" r:id="rId9"/>
    <p:sldId id="267" r:id="rId10"/>
    <p:sldId id="268" r:id="rId11"/>
    <p:sldId id="269" r:id="rId12"/>
    <p:sldId id="270" r:id="rId13"/>
    <p:sldId id="271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0"/>
    <a:srgbClr val="004082"/>
    <a:srgbClr val="8AA8CC"/>
    <a:srgbClr val="DBE3EB"/>
    <a:srgbClr val="7FA0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B470-B799-6667-3963-B1D957AA3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9A42E-5FB8-FECB-BE9D-744BAF45E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0B2C0-690C-FAF8-32B8-244CC9DE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C19DF-F0AD-C7F6-10A3-27BEB285B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E794D-9C2F-06D5-5E6C-29B7FE41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22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81FA-452B-F8A6-62AC-6F7D89DAD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F6BDD-4C4B-F199-3AAE-5B4D5F747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5327B-3DB7-CFB3-F972-2CDCAAC8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15821-9930-E43C-66EA-7F3CFA20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5A201-1A5A-4A81-E812-F592D2DC0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45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4CE0-31B7-3B2D-63DE-38E77F7C2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AF6-F2B9-454C-77E6-07B6AD326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1B447-1B68-3C31-81A4-055BD0024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5C720-3F61-6F8D-C6DA-8EADCAF5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C7280-EC86-336E-327B-8C088BE4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4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4B8B-D1AF-8493-05BE-5405669A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52E6D-25B0-FA72-97F3-68C2E8408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325B9-9036-DDCF-29F5-4547FC3B6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277A8-B3DE-9AF9-975D-C0D78228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A8BB9-3D88-E2FB-9215-D4D41B7A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0C07D-DFD9-E9E7-0B9B-ABF322E7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3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6D28-9CEA-1E08-3E74-991AC9CD1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154DC-B9B1-A1F4-1D72-7168697C9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C0F6C-459B-A9B2-4EAC-9B46DC97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B4219-DD1F-D883-F952-D6493D597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1CDB46-EBF2-DF26-7CAF-A5CF074B49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2DEA6A-3443-6F80-068D-638284375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6AAF7-FAAE-342B-7F49-54907B85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5890C-5FB0-8EEB-54D8-AEE4018A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9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3E64D-AD8B-87C2-5924-18081832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FECC4-DBDF-703E-FF09-276F398B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DB9BE-8410-6F8C-2BCF-F815884E6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FD199-C52F-A3A7-8924-AA08D38A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5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C6236-F69A-582E-A54B-7A124291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331A9-5C97-EFA5-B1AE-53E30D360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378E2-554E-E8EF-EBD4-78B6CFB8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4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CDF7-37FD-FD34-1CC4-2D762109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8CEEA-846C-04CE-EFF2-EDEBAACC3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E8C17-D8AF-7AEA-BCC8-F96C1AE4E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50782-CEE2-A136-5E74-FD6905767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0799C-273A-5DAB-5D40-2D000FEC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2C1E1-EA27-D2B4-C97A-F5840974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2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5B7A-959A-4B33-6842-9E4D99D99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512BA8-DF64-3CFB-88E5-4984DB7DD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CF5FA-C73A-E8F8-8D48-595895779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26B3F-8AF5-B1EC-8A3D-88970A22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848D6-7310-F75E-62AF-0192C44C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F92D7-6080-A0AA-A8AE-EFDE5E6F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9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4A9E-1FCD-900F-5ACF-27EBAFBD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C6BB5-97E2-982B-462E-B7A4E68D9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91567-0358-A9FD-CCED-7936E2BD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F59B6-CD30-EEDA-1EEB-41A493FE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DE0CC-5208-DE52-AB98-DC0C1E24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3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DA0552-21EF-FB58-8926-CAB2AEBC3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C2B5D-A708-3A65-FF50-7D0878AED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18222-CA33-1656-BC5B-6E6D7B821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1C9FB-9BF0-AE73-60F9-93FD9597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2DE97-FCEC-E689-00E1-4B85D710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93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A8949-546E-643C-1216-5ED40E55F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FE74D-ECC9-9BBD-4C97-BA6747182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9D015-CA3D-D5CC-3279-152A0584C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B1150-9DE9-44D5-A10C-F620BC916A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EB621-6163-31ED-77EC-C6AE6D0D0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D8437-8B2F-6CE2-1B94-8EF87ACCA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7AFDE-06E6-4CAB-8B6A-74A2286D7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8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3.png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LE MIGLIORI 10 cose da vedere a Ascoli Piceno (2025)">
            <a:extLst>
              <a:ext uri="{FF2B5EF4-FFF2-40B4-BE49-F238E27FC236}">
                <a16:creationId xmlns:a16="http://schemas.microsoft.com/office/drawing/2014/main" id="{2D958AB2-D2FA-2887-4CFD-791FE23603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8"/>
          <a:stretch>
            <a:fillRect/>
          </a:stretch>
        </p:blipFill>
        <p:spPr bwMode="auto">
          <a:xfrm>
            <a:off x="0" y="0"/>
            <a:ext cx="7524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CB9C211-1ADA-842C-6294-BD7058C5BAB8}"/>
              </a:ext>
            </a:extLst>
          </p:cNvPr>
          <p:cNvSpPr/>
          <p:nvPr/>
        </p:nvSpPr>
        <p:spPr>
          <a:xfrm>
            <a:off x="0" y="0"/>
            <a:ext cx="4552950" cy="6858000"/>
          </a:xfrm>
          <a:prstGeom prst="rect">
            <a:avLst/>
          </a:prstGeom>
          <a:solidFill>
            <a:srgbClr val="F2F2F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B7153-E966-76E7-65F1-90E29F2B91BF}"/>
              </a:ext>
            </a:extLst>
          </p:cNvPr>
          <p:cNvSpPr/>
          <p:nvPr/>
        </p:nvSpPr>
        <p:spPr>
          <a:xfrm>
            <a:off x="4400550" y="0"/>
            <a:ext cx="7791450" cy="68580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A3B97-E18D-A906-D839-98C135887CD8}"/>
              </a:ext>
            </a:extLst>
          </p:cNvPr>
          <p:cNvSpPr txBox="1"/>
          <p:nvPr/>
        </p:nvSpPr>
        <p:spPr>
          <a:xfrm>
            <a:off x="4400550" y="2052655"/>
            <a:ext cx="7791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Data to Insights: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Tourist Behavior for Ascoli Piceno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ECF0D8-C9DE-B3D3-0B0B-C0E67909491B}"/>
              </a:ext>
            </a:extLst>
          </p:cNvPr>
          <p:cNvCxnSpPr>
            <a:cxnSpLocks/>
          </p:cNvCxnSpPr>
          <p:nvPr/>
        </p:nvCxnSpPr>
        <p:spPr>
          <a:xfrm>
            <a:off x="4984275" y="3252669"/>
            <a:ext cx="6624000" cy="0"/>
          </a:xfrm>
          <a:prstGeom prst="line">
            <a:avLst/>
          </a:prstGeom>
          <a:ln w="25400">
            <a:solidFill>
              <a:srgbClr val="7FA0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52D3EA-9244-433F-6EAA-9D12511D7262}"/>
              </a:ext>
            </a:extLst>
          </p:cNvPr>
          <p:cNvSpPr txBox="1"/>
          <p:nvPr/>
        </p:nvSpPr>
        <p:spPr>
          <a:xfrm>
            <a:off x="4993800" y="3621687"/>
            <a:ext cx="6624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 Defense for the Master’s Degree in Data Science for Economics </a:t>
            </a:r>
            <a:endParaRPr lang="it-IT" sz="1200" b="0" i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4" name="Picture 10" descr="Università degli Studi di Milano: info e guida all'utilizzo della  convenzione con E-VAI">
            <a:extLst>
              <a:ext uri="{FF2B5EF4-FFF2-40B4-BE49-F238E27FC236}">
                <a16:creationId xmlns:a16="http://schemas.microsoft.com/office/drawing/2014/main" id="{609DCBB2-DA79-3B4F-3086-3F177D7FEE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5" t="34895" r="8889" b="34895"/>
          <a:stretch>
            <a:fillRect/>
          </a:stretch>
        </p:blipFill>
        <p:spPr bwMode="auto">
          <a:xfrm>
            <a:off x="7038974" y="710092"/>
            <a:ext cx="2533651" cy="92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73F2171-0F2C-E407-8E71-54B3EA18D55E}"/>
              </a:ext>
            </a:extLst>
          </p:cNvPr>
          <p:cNvSpPr txBox="1"/>
          <p:nvPr/>
        </p:nvSpPr>
        <p:spPr>
          <a:xfrm>
            <a:off x="4984274" y="4496049"/>
            <a:ext cx="6624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 </a:t>
            </a:r>
            <a:r>
              <a:rPr lang="it-IT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</a:t>
            </a:r>
            <a:endParaRPr lang="it-IT" sz="16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B11626-F88D-AFDE-E8D6-E73EA965B329}"/>
              </a:ext>
            </a:extLst>
          </p:cNvPr>
          <p:cNvSpPr txBox="1"/>
          <p:nvPr/>
        </p:nvSpPr>
        <p:spPr>
          <a:xfrm>
            <a:off x="4993800" y="5255592"/>
            <a:ext cx="3302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Supervisor: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Massimo </a:t>
            </a:r>
            <a:r>
              <a:rPr lang="en-US" sz="1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ALIBERTI</a:t>
            </a:r>
            <a:endParaRPr lang="it-IT" sz="1400" b="1" i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01231B-A998-A49E-DD96-7F8DF9EE3D9B}"/>
              </a:ext>
            </a:extLst>
          </p:cNvPr>
          <p:cNvSpPr txBox="1"/>
          <p:nvPr/>
        </p:nvSpPr>
        <p:spPr>
          <a:xfrm>
            <a:off x="8296276" y="5255592"/>
            <a:ext cx="3321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Co-Supervisor: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Gioriga </a:t>
            </a:r>
            <a:r>
              <a:rPr lang="en-US" sz="1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FERRANTI</a:t>
            </a:r>
            <a:endParaRPr lang="it-IT" sz="1400" b="1" i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85EB5A-E3D6-6073-EC51-A60C1641FF13}"/>
              </a:ext>
            </a:extLst>
          </p:cNvPr>
          <p:cNvSpPr/>
          <p:nvPr/>
        </p:nvSpPr>
        <p:spPr>
          <a:xfrm>
            <a:off x="4402930" y="6100283"/>
            <a:ext cx="7812000" cy="264689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42896D-5D40-0D4F-2120-FDDD0DBF87D5}"/>
              </a:ext>
            </a:extLst>
          </p:cNvPr>
          <p:cNvSpPr txBox="1"/>
          <p:nvPr/>
        </p:nvSpPr>
        <p:spPr>
          <a:xfrm>
            <a:off x="4993800" y="6079900"/>
            <a:ext cx="6614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i="1" dirty="0">
                <a:solidFill>
                  <a:srgbClr val="00408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December 2025</a:t>
            </a:r>
            <a:endParaRPr lang="it-IT" sz="1200" b="1" dirty="0">
              <a:solidFill>
                <a:srgbClr val="00408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72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C6E34E-F60A-1275-9F4E-24C59165908C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FAEBA-3518-B0FF-DD57-33DA74E3D930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F2026-7388-B68D-E774-5D7525E74773}"/>
              </a:ext>
            </a:extLst>
          </p:cNvPr>
          <p:cNvSpPr txBox="1"/>
          <p:nvPr/>
        </p:nvSpPr>
        <p:spPr>
          <a:xfrm>
            <a:off x="0" y="179099"/>
            <a:ext cx="3384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of Content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1BFF1073-C00D-9AB6-0AEA-CAB2ED0A8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53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89B945-45E9-DE1D-573A-36B5A712BE12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BD02E2-AE1F-FDBE-5C1E-AB835397A5BF}"/>
              </a:ext>
            </a:extLst>
          </p:cNvPr>
          <p:cNvSpPr txBox="1"/>
          <p:nvPr/>
        </p:nvSpPr>
        <p:spPr>
          <a:xfrm>
            <a:off x="238125" y="1162049"/>
            <a:ext cx="11849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s-AR" sz="1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i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F9541-5AD1-7AFC-B408-45414EFE48A8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370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D7B7-BFB5-2F87-9D45-A5B34EEDC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E MIGLIORI 10 cose da vedere a Ascoli Piceno (2025)">
            <a:extLst>
              <a:ext uri="{FF2B5EF4-FFF2-40B4-BE49-F238E27FC236}">
                <a16:creationId xmlns:a16="http://schemas.microsoft.com/office/drawing/2014/main" id="{7E9E4752-6E60-C167-9F8D-26BDC996C9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EDD751B-3E01-AB48-5123-267D35A8481D}"/>
              </a:ext>
            </a:extLst>
          </p:cNvPr>
          <p:cNvSpPr/>
          <p:nvPr/>
        </p:nvSpPr>
        <p:spPr>
          <a:xfrm>
            <a:off x="-3" y="0"/>
            <a:ext cx="12191999" cy="6858000"/>
          </a:xfrm>
          <a:prstGeom prst="rect">
            <a:avLst/>
          </a:prstGeom>
          <a:solidFill>
            <a:srgbClr val="F2F2F0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4C02453-6B1D-75E6-BDED-9D52E903032C}"/>
              </a:ext>
            </a:extLst>
          </p:cNvPr>
          <p:cNvGrpSpPr/>
          <p:nvPr/>
        </p:nvGrpSpPr>
        <p:grpSpPr>
          <a:xfrm>
            <a:off x="0" y="3044279"/>
            <a:ext cx="12192001" cy="769441"/>
            <a:chOff x="-1" y="1353592"/>
            <a:chExt cx="12192001" cy="76944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BDF2042-D9F4-C539-CF30-E5E8F8AC1F86}"/>
                </a:ext>
              </a:extLst>
            </p:cNvPr>
            <p:cNvSpPr/>
            <p:nvPr/>
          </p:nvSpPr>
          <p:spPr>
            <a:xfrm>
              <a:off x="0" y="1353592"/>
              <a:ext cx="12192000" cy="769441"/>
            </a:xfrm>
            <a:prstGeom prst="rect">
              <a:avLst/>
            </a:prstGeom>
            <a:solidFill>
              <a:srgbClr val="004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4862B5-81A2-8324-048A-07D7EB017204}"/>
                </a:ext>
              </a:extLst>
            </p:cNvPr>
            <p:cNvSpPr txBox="1"/>
            <p:nvPr/>
          </p:nvSpPr>
          <p:spPr>
            <a:xfrm>
              <a:off x="-1" y="1353592"/>
              <a:ext cx="12192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  <a:endPara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975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1BC37-C3AC-9803-2382-69AA588C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E3A4E9-9289-E3D5-BA7E-AE3BF3952170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3ED8FA-20BF-25B8-5AB0-1D10DFB9DA33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B4A5C-FBD7-8D5C-E596-E8849A6EB8C9}"/>
              </a:ext>
            </a:extLst>
          </p:cNvPr>
          <p:cNvSpPr txBox="1"/>
          <p:nvPr/>
        </p:nvSpPr>
        <p:spPr>
          <a:xfrm>
            <a:off x="0" y="179099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B42E15DD-90A8-8F50-AFC1-D827190A6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53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3CE045-C3C0-AAF5-89A5-C988A0E1EECA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A5023-2394-D2C3-D7BE-191511CF87BD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DDA2F91-548D-CD75-4FCC-48CEC4A7A491}"/>
              </a:ext>
            </a:extLst>
          </p:cNvPr>
          <p:cNvGrpSpPr/>
          <p:nvPr/>
        </p:nvGrpSpPr>
        <p:grpSpPr>
          <a:xfrm>
            <a:off x="706034" y="1165143"/>
            <a:ext cx="5042833" cy="5042833"/>
            <a:chOff x="706034" y="1165143"/>
            <a:chExt cx="5042833" cy="5042833"/>
          </a:xfrm>
        </p:grpSpPr>
        <p:pic>
          <p:nvPicPr>
            <p:cNvPr id="1026" name="Picture 2" descr="43,800+ Circle World Map Stock Photos, Pictures &amp; Royalty-Free Images -  iStock">
              <a:extLst>
                <a:ext uri="{FF2B5EF4-FFF2-40B4-BE49-F238E27FC236}">
                  <a16:creationId xmlns:a16="http://schemas.microsoft.com/office/drawing/2014/main" id="{B8029E1B-8928-9972-963E-4D05956C2A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034" y="1165143"/>
              <a:ext cx="5042833" cy="5042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AA8243-B70B-EADE-23D5-DE1B0F561A0B}"/>
                </a:ext>
              </a:extLst>
            </p:cNvPr>
            <p:cNvSpPr txBox="1"/>
            <p:nvPr/>
          </p:nvSpPr>
          <p:spPr>
            <a:xfrm>
              <a:off x="2122550" y="3486504"/>
              <a:ext cx="22097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Global </a:t>
              </a:r>
              <a:r>
                <a:rPr lang="es-AR" sz="20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Scale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1E6CDB8-DBB3-3E3F-7BB5-973A82560FE6}"/>
              </a:ext>
            </a:extLst>
          </p:cNvPr>
          <p:cNvCxnSpPr>
            <a:cxnSpLocks/>
          </p:cNvCxnSpPr>
          <p:nvPr/>
        </p:nvCxnSpPr>
        <p:spPr>
          <a:xfrm flipV="1">
            <a:off x="5648324" y="1557754"/>
            <a:ext cx="447676" cy="2097464"/>
          </a:xfrm>
          <a:prstGeom prst="bentConnector3">
            <a:avLst/>
          </a:prstGeom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B1B80E1-3419-DFF3-1E32-44425163173A}"/>
              </a:ext>
            </a:extLst>
          </p:cNvPr>
          <p:cNvSpPr txBox="1"/>
          <p:nvPr/>
        </p:nvSpPr>
        <p:spPr>
          <a:xfrm>
            <a:off x="6096000" y="1388477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Tourism accounts for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7% of global economy.</a:t>
            </a:r>
          </a:p>
        </p:txBody>
      </p:sp>
    </p:spTree>
    <p:extLst>
      <p:ext uri="{BB962C8B-B14F-4D97-AF65-F5344CB8AC3E}">
        <p14:creationId xmlns:p14="http://schemas.microsoft.com/office/powerpoint/2010/main" val="350134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67F21-408D-11A3-D5C6-AFE8B101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A5DD06-5695-C028-D318-33503FACC02D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576083-43ED-8CE3-77EE-BE0EE4331C6E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E2D9E-0533-2117-2FB5-53551BE9421C}"/>
              </a:ext>
            </a:extLst>
          </p:cNvPr>
          <p:cNvSpPr txBox="1"/>
          <p:nvPr/>
        </p:nvSpPr>
        <p:spPr>
          <a:xfrm>
            <a:off x="0" y="179099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DB61142A-9A0C-B70A-8715-9911CD2A2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53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2FEE6E-9A1C-37FE-7569-A972B26CB414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CAAD5A-5202-3FC7-5612-A2ABA2156487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3A385C-078D-6E46-35F1-9ED83742472F}"/>
              </a:ext>
            </a:extLst>
          </p:cNvPr>
          <p:cNvSpPr txBox="1"/>
          <p:nvPr/>
        </p:nvSpPr>
        <p:spPr>
          <a:xfrm>
            <a:off x="6096000" y="1388477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Tourism accounts for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7% of global economy.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7BF8CA1-1955-4D6D-152D-B73467F9C557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5648324" y="1557754"/>
            <a:ext cx="447676" cy="2097464"/>
          </a:xfrm>
          <a:prstGeom prst="bentConnector3">
            <a:avLst/>
          </a:prstGeom>
          <a:ln w="38100">
            <a:solidFill>
              <a:srgbClr val="8AA8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B74B95B-1584-AD63-A1CD-5B72D0DCD52D}"/>
              </a:ext>
            </a:extLst>
          </p:cNvPr>
          <p:cNvSpPr txBox="1"/>
          <p:nvPr/>
        </p:nvSpPr>
        <p:spPr>
          <a:xfrm>
            <a:off x="6095999" y="1979283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Covid-19 effect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-72%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first year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0E3757D-36FA-A424-FE5E-DA0BB5BD0D74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5648324" y="2148560"/>
            <a:ext cx="447675" cy="1506658"/>
          </a:xfrm>
          <a:prstGeom prst="bentConnector3">
            <a:avLst>
              <a:gd name="adj1" fmla="val 50000"/>
            </a:avLst>
          </a:prstGeom>
          <a:ln w="38100">
            <a:solidFill>
              <a:srgbClr val="004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7560D23-A929-E9B2-4750-375B7516F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161" y="2489603"/>
            <a:ext cx="5810251" cy="3462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74DAF9-A5C4-7EEB-6BB0-8C1B6E55563F}"/>
              </a:ext>
            </a:extLst>
          </p:cNvPr>
          <p:cNvSpPr txBox="1"/>
          <p:nvPr/>
        </p:nvSpPr>
        <p:spPr>
          <a:xfrm>
            <a:off x="6108294" y="5922707"/>
            <a:ext cx="58102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Arial" panose="020B0604020202020204" pitchFamily="34" charset="0"/>
                <a:cs typeface="Arial" panose="020B0604020202020204" pitchFamily="34" charset="0"/>
              </a:rPr>
              <a:t>International Tourist Arrivals &amp; Receipts. Source: UNWTO.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34DD663-A8A9-96D5-04B7-64F857DCEFB9}"/>
              </a:ext>
            </a:extLst>
          </p:cNvPr>
          <p:cNvGrpSpPr/>
          <p:nvPr/>
        </p:nvGrpSpPr>
        <p:grpSpPr>
          <a:xfrm>
            <a:off x="706034" y="1165143"/>
            <a:ext cx="5042833" cy="5042833"/>
            <a:chOff x="706034" y="1165143"/>
            <a:chExt cx="5042833" cy="5042833"/>
          </a:xfrm>
        </p:grpSpPr>
        <p:pic>
          <p:nvPicPr>
            <p:cNvPr id="16" name="Picture 2" descr="43,800+ Circle World Map Stock Photos, Pictures &amp; Royalty-Free Images -  iStock">
              <a:extLst>
                <a:ext uri="{FF2B5EF4-FFF2-40B4-BE49-F238E27FC236}">
                  <a16:creationId xmlns:a16="http://schemas.microsoft.com/office/drawing/2014/main" id="{CB1B5CE7-915B-D256-F431-9F1839C855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034" y="1165143"/>
              <a:ext cx="5042833" cy="5042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5459F6-E9DC-BBF5-CD32-9B44BC2302E2}"/>
                </a:ext>
              </a:extLst>
            </p:cNvPr>
            <p:cNvSpPr txBox="1"/>
            <p:nvPr/>
          </p:nvSpPr>
          <p:spPr>
            <a:xfrm>
              <a:off x="2122550" y="3486504"/>
              <a:ext cx="22097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Global </a:t>
              </a:r>
              <a:r>
                <a:rPr lang="es-AR" sz="20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Scale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3079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3A4B7-C84F-69A4-2669-4CDFE46D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3D58D1-BA36-2B4C-B51B-263FF106A23A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50EFA-2C5C-8276-F4F1-857609086AB4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C47A5-7CE8-F642-279E-E32B6685C650}"/>
              </a:ext>
            </a:extLst>
          </p:cNvPr>
          <p:cNvSpPr txBox="1"/>
          <p:nvPr/>
        </p:nvSpPr>
        <p:spPr>
          <a:xfrm>
            <a:off x="0" y="179099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5AE51F9D-975B-8327-4C9A-17BA12E0E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53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611B14-0F8F-8D28-565D-2CBE9516EBB6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CF9282-D56C-B94A-385B-796613B8528F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079FB7-86C1-5CD3-EB29-8961CF6DB3D0}"/>
              </a:ext>
            </a:extLst>
          </p:cNvPr>
          <p:cNvSpPr txBox="1"/>
          <p:nvPr/>
        </p:nvSpPr>
        <p:spPr>
          <a:xfrm>
            <a:off x="6096000" y="1388477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Tourism accounts for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7% of global economy.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B961CAA-98E9-A1BB-805B-5A32C240D87B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5648324" y="1557754"/>
            <a:ext cx="447676" cy="2097464"/>
          </a:xfrm>
          <a:prstGeom prst="bentConnector3">
            <a:avLst/>
          </a:prstGeom>
          <a:ln w="38100">
            <a:solidFill>
              <a:srgbClr val="8AA8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03ADC92-6CEC-E299-DC8E-BCFF29772A3F}"/>
              </a:ext>
            </a:extLst>
          </p:cNvPr>
          <p:cNvSpPr txBox="1"/>
          <p:nvPr/>
        </p:nvSpPr>
        <p:spPr>
          <a:xfrm>
            <a:off x="6095999" y="1979283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Covid-19 effect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-72%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first year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C77A3BB-45A7-9A89-7DD3-612B6AFA627B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5648324" y="2148560"/>
            <a:ext cx="447675" cy="1506658"/>
          </a:xfrm>
          <a:prstGeom prst="bentConnector3">
            <a:avLst>
              <a:gd name="adj1" fmla="val 50000"/>
            </a:avLst>
          </a:prstGeom>
          <a:ln w="38100">
            <a:solidFill>
              <a:srgbClr val="8AA8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2E4C9D-0D98-3504-3E45-FCD731B1283C}"/>
              </a:ext>
            </a:extLst>
          </p:cNvPr>
          <p:cNvSpPr txBox="1"/>
          <p:nvPr/>
        </p:nvSpPr>
        <p:spPr>
          <a:xfrm>
            <a:off x="6095998" y="2570089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2024 recovery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International arrivals reached 99% of 2019.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D68FF04-8327-E8D5-D91D-204684EC3EFA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5648324" y="2739366"/>
            <a:ext cx="447674" cy="915852"/>
          </a:xfrm>
          <a:prstGeom prst="bentConnector3">
            <a:avLst>
              <a:gd name="adj1" fmla="val 50000"/>
            </a:avLst>
          </a:prstGeom>
          <a:ln w="38100">
            <a:solidFill>
              <a:srgbClr val="004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map of the world&#10;&#10;AI-generated content may be incorrect.">
            <a:extLst>
              <a:ext uri="{FF2B5EF4-FFF2-40B4-BE49-F238E27FC236}">
                <a16:creationId xmlns:a16="http://schemas.microsoft.com/office/drawing/2014/main" id="{F4581406-F1DD-282D-D489-B1D387392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228" y="2908643"/>
            <a:ext cx="5024396" cy="316942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276DD24-A254-5032-28FD-B2FE3528DC72}"/>
              </a:ext>
            </a:extLst>
          </p:cNvPr>
          <p:cNvSpPr txBox="1"/>
          <p:nvPr/>
        </p:nvSpPr>
        <p:spPr>
          <a:xfrm>
            <a:off x="6393959" y="6079574"/>
            <a:ext cx="50243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Arial" panose="020B0604020202020204" pitchFamily="34" charset="0"/>
                <a:cs typeface="Arial" panose="020B0604020202020204" pitchFamily="34" charset="0"/>
              </a:rPr>
              <a:t>International Tourist Arrivals by Region (% change vs 2019). Source: UNWTO.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8DCF9EB-53CA-488E-5EB8-E22FDB1777A8}"/>
              </a:ext>
            </a:extLst>
          </p:cNvPr>
          <p:cNvGrpSpPr/>
          <p:nvPr/>
        </p:nvGrpSpPr>
        <p:grpSpPr>
          <a:xfrm>
            <a:off x="706034" y="1165143"/>
            <a:ext cx="5042833" cy="5042833"/>
            <a:chOff x="706034" y="1165143"/>
            <a:chExt cx="5042833" cy="5042833"/>
          </a:xfrm>
        </p:grpSpPr>
        <p:pic>
          <p:nvPicPr>
            <p:cNvPr id="14" name="Picture 2" descr="43,800+ Circle World Map Stock Photos, Pictures &amp; Royalty-Free Images -  iStock">
              <a:extLst>
                <a:ext uri="{FF2B5EF4-FFF2-40B4-BE49-F238E27FC236}">
                  <a16:creationId xmlns:a16="http://schemas.microsoft.com/office/drawing/2014/main" id="{18E9A511-42B8-2FD4-479A-00EF39C8CF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034" y="1165143"/>
              <a:ext cx="5042833" cy="5042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3C9C934-DBEF-50D4-1521-9945FBCFE7F7}"/>
                </a:ext>
              </a:extLst>
            </p:cNvPr>
            <p:cNvSpPr txBox="1"/>
            <p:nvPr/>
          </p:nvSpPr>
          <p:spPr>
            <a:xfrm>
              <a:off x="2122550" y="3486504"/>
              <a:ext cx="22097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Global </a:t>
              </a:r>
              <a:r>
                <a:rPr lang="es-AR" sz="20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Scale</a:t>
              </a:r>
              <a:endPara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3179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355C0-E242-7AC2-088A-29898001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43,800+ Circle World Map Stock Photos, Pictures &amp; Royalty-Free Images -  iStock">
            <a:extLst>
              <a:ext uri="{FF2B5EF4-FFF2-40B4-BE49-F238E27FC236}">
                <a16:creationId xmlns:a16="http://schemas.microsoft.com/office/drawing/2014/main" id="{E4DE109C-0AB3-534D-D622-04150CE5F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34" y="1165143"/>
            <a:ext cx="5042833" cy="504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520ADFB-D355-9477-1E07-0B885E627452}"/>
              </a:ext>
            </a:extLst>
          </p:cNvPr>
          <p:cNvSpPr/>
          <p:nvPr/>
        </p:nvSpPr>
        <p:spPr>
          <a:xfrm>
            <a:off x="880533" y="1373350"/>
            <a:ext cx="4692453" cy="4646450"/>
          </a:xfrm>
          <a:prstGeom prst="ellipse">
            <a:avLst/>
          </a:prstGeom>
          <a:solidFill>
            <a:srgbClr val="DBE3EB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8B7D91-6529-DB36-EF6C-01466156F33B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08A82D-46EF-70B6-4E02-99E7643E53F4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AA242-0E7A-7F6A-EDA2-530000D6C1FC}"/>
              </a:ext>
            </a:extLst>
          </p:cNvPr>
          <p:cNvSpPr txBox="1"/>
          <p:nvPr/>
        </p:nvSpPr>
        <p:spPr>
          <a:xfrm>
            <a:off x="0" y="179099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AFCEDF90-4EEC-54F6-72EF-933DDBC5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53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45B85B-39F6-085A-5BAE-498C45B58819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7FBCFE-BF8E-A99E-6400-3C49541D1C19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842738-D0C2-43AA-6BA9-705460032988}"/>
              </a:ext>
            </a:extLst>
          </p:cNvPr>
          <p:cNvSpPr/>
          <p:nvPr/>
        </p:nvSpPr>
        <p:spPr>
          <a:xfrm>
            <a:off x="1589370" y="2059186"/>
            <a:ext cx="3274777" cy="3274777"/>
          </a:xfrm>
          <a:prstGeom prst="ellipse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508767-D2DF-AC7F-32AB-8E4EA17671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53321" y="2803461"/>
            <a:ext cx="1946871" cy="22959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572ACB-BD19-C591-1ED9-49D317FD86D1}"/>
              </a:ext>
            </a:extLst>
          </p:cNvPr>
          <p:cNvSpPr txBox="1"/>
          <p:nvPr/>
        </p:nvSpPr>
        <p:spPr>
          <a:xfrm>
            <a:off x="2121858" y="2318681"/>
            <a:ext cx="2209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</a:t>
            </a:r>
            <a:r>
              <a:rPr lang="es-A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4A34CEF-A324-43B9-693D-E4364487CF58}"/>
              </a:ext>
            </a:extLst>
          </p:cNvPr>
          <p:cNvCxnSpPr>
            <a:cxnSpLocks/>
            <a:stCxn id="11" idx="6"/>
            <a:endCxn id="19" idx="1"/>
          </p:cNvCxnSpPr>
          <p:nvPr/>
        </p:nvCxnSpPr>
        <p:spPr>
          <a:xfrm flipV="1">
            <a:off x="4864147" y="1557754"/>
            <a:ext cx="1231853" cy="2138821"/>
          </a:xfrm>
          <a:prstGeom prst="bentConnector3">
            <a:avLst>
              <a:gd name="adj1" fmla="val 65121"/>
            </a:avLst>
          </a:prstGeom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30EFC24-98ED-D229-BD0A-6582D9B0E820}"/>
              </a:ext>
            </a:extLst>
          </p:cNvPr>
          <p:cNvSpPr txBox="1"/>
          <p:nvPr/>
        </p:nvSpPr>
        <p:spPr>
          <a:xfrm>
            <a:off x="6096000" y="1388477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Italy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ranks among the world’s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Top 5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destinations.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 descr="A graph with red and green squares&#10;&#10;AI-generated content may be incorrect.">
            <a:extLst>
              <a:ext uri="{FF2B5EF4-FFF2-40B4-BE49-F238E27FC236}">
                <a16:creationId xmlns:a16="http://schemas.microsoft.com/office/drawing/2014/main" id="{9891A805-BB61-80BB-CB0B-D360A9D7E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361" y="2074446"/>
            <a:ext cx="5776238" cy="34528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2B0E8A1-EAB7-804C-407E-9AFEF46FEE51}"/>
              </a:ext>
            </a:extLst>
          </p:cNvPr>
          <p:cNvSpPr txBox="1"/>
          <p:nvPr/>
        </p:nvSpPr>
        <p:spPr>
          <a:xfrm>
            <a:off x="6417282" y="5527314"/>
            <a:ext cx="50243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Arial" panose="020B0604020202020204" pitchFamily="34" charset="0"/>
                <a:cs typeface="Arial" panose="020B0604020202020204" pitchFamily="34" charset="0"/>
              </a:rPr>
              <a:t>Ranking of International Arrivals by Country. Source: UNWTO.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414A80-1484-1C85-8A8E-DACA9B0106B3}"/>
              </a:ext>
            </a:extLst>
          </p:cNvPr>
          <p:cNvSpPr/>
          <p:nvPr/>
        </p:nvSpPr>
        <p:spPr>
          <a:xfrm>
            <a:off x="6253419" y="3386193"/>
            <a:ext cx="3594734" cy="288000"/>
          </a:xfrm>
          <a:prstGeom prst="rect">
            <a:avLst/>
          </a:prstGeom>
          <a:noFill/>
          <a:ln w="25400">
            <a:solidFill>
              <a:srgbClr val="00408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2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F9DD9-6724-A655-2776-7AFC0E00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43,800+ Circle World Map Stock Photos, Pictures &amp; Royalty-Free Images -  iStock">
            <a:extLst>
              <a:ext uri="{FF2B5EF4-FFF2-40B4-BE49-F238E27FC236}">
                <a16:creationId xmlns:a16="http://schemas.microsoft.com/office/drawing/2014/main" id="{5C5EE1C5-BFC1-6870-6A22-FF9166898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34" y="1165143"/>
            <a:ext cx="5042833" cy="504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2402F50-28EB-F9AB-393E-D2BBF29E96FE}"/>
              </a:ext>
            </a:extLst>
          </p:cNvPr>
          <p:cNvSpPr/>
          <p:nvPr/>
        </p:nvSpPr>
        <p:spPr>
          <a:xfrm>
            <a:off x="880533" y="1373350"/>
            <a:ext cx="4692453" cy="4646450"/>
          </a:xfrm>
          <a:prstGeom prst="ellipse">
            <a:avLst/>
          </a:prstGeom>
          <a:solidFill>
            <a:srgbClr val="DBE3EB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46E389-3772-2A47-D0D1-7BB7BFDD3045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81A6D2-8E7C-3F25-FE53-948B353C1CF4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78D1C-07D4-1346-6211-7F35F320A0B4}"/>
              </a:ext>
            </a:extLst>
          </p:cNvPr>
          <p:cNvSpPr txBox="1"/>
          <p:nvPr/>
        </p:nvSpPr>
        <p:spPr>
          <a:xfrm>
            <a:off x="0" y="179099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9E4C5008-0ECF-F992-C114-6560D994F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53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387E35-E528-1C1B-E27F-63F944213021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197A28-2910-D418-1B09-CC063003BA0D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0E518F7-844D-4054-FBD2-586B4261F690}"/>
              </a:ext>
            </a:extLst>
          </p:cNvPr>
          <p:cNvSpPr/>
          <p:nvPr/>
        </p:nvSpPr>
        <p:spPr>
          <a:xfrm>
            <a:off x="1589370" y="2059186"/>
            <a:ext cx="3274777" cy="3274777"/>
          </a:xfrm>
          <a:prstGeom prst="ellipse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255B7E-B7DC-A9C7-7DA6-F8BFA98D707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53321" y="2803461"/>
            <a:ext cx="1946871" cy="22959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370E45-4A9E-0FE3-3197-0552E8B122D9}"/>
              </a:ext>
            </a:extLst>
          </p:cNvPr>
          <p:cNvSpPr txBox="1"/>
          <p:nvPr/>
        </p:nvSpPr>
        <p:spPr>
          <a:xfrm>
            <a:off x="2121858" y="2318681"/>
            <a:ext cx="2209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</a:t>
            </a:r>
            <a:r>
              <a:rPr lang="es-A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482A3B9-6785-9957-A079-A6FC5396EC56}"/>
              </a:ext>
            </a:extLst>
          </p:cNvPr>
          <p:cNvCxnSpPr>
            <a:cxnSpLocks/>
            <a:stCxn id="11" idx="6"/>
            <a:endCxn id="19" idx="1"/>
          </p:cNvCxnSpPr>
          <p:nvPr/>
        </p:nvCxnSpPr>
        <p:spPr>
          <a:xfrm flipV="1">
            <a:off x="4864147" y="1557754"/>
            <a:ext cx="1231853" cy="2138821"/>
          </a:xfrm>
          <a:prstGeom prst="bentConnector3">
            <a:avLst>
              <a:gd name="adj1" fmla="val 65121"/>
            </a:avLst>
          </a:prstGeom>
          <a:ln w="38100">
            <a:solidFill>
              <a:srgbClr val="8AA8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3934BFC-D35B-18AE-8B72-A5A6749178E4}"/>
              </a:ext>
            </a:extLst>
          </p:cNvPr>
          <p:cNvSpPr txBox="1"/>
          <p:nvPr/>
        </p:nvSpPr>
        <p:spPr>
          <a:xfrm>
            <a:off x="6096000" y="1388477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Italy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ranks among the world’s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Top 5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destinations.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ACD24-EEB9-F5FA-C2D5-1F1A4DF0DBE1}"/>
              </a:ext>
            </a:extLst>
          </p:cNvPr>
          <p:cNvSpPr txBox="1"/>
          <p:nvPr/>
        </p:nvSpPr>
        <p:spPr>
          <a:xfrm>
            <a:off x="6095999" y="1979283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Top 4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cities account for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19%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all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tourist arrivals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A0D99EA-DCC6-508A-08C9-79ADF6E44DBD}"/>
              </a:ext>
            </a:extLst>
          </p:cNvPr>
          <p:cNvCxnSpPr>
            <a:cxnSpLocks/>
            <a:stCxn id="11" idx="6"/>
            <a:endCxn id="2" idx="1"/>
          </p:cNvCxnSpPr>
          <p:nvPr/>
        </p:nvCxnSpPr>
        <p:spPr>
          <a:xfrm flipV="1">
            <a:off x="4864147" y="2148560"/>
            <a:ext cx="1231852" cy="1548015"/>
          </a:xfrm>
          <a:prstGeom prst="bentConnector3">
            <a:avLst>
              <a:gd name="adj1" fmla="val 65121"/>
            </a:avLst>
          </a:prstGeom>
          <a:ln w="38100">
            <a:solidFill>
              <a:srgbClr val="004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673DA840-B80B-3C96-076C-1715037670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366" y="2530628"/>
            <a:ext cx="5910643" cy="251064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AD42853-C0DC-677E-8FB4-1E8E2B70C5E0}"/>
              </a:ext>
            </a:extLst>
          </p:cNvPr>
          <p:cNvSpPr txBox="1"/>
          <p:nvPr/>
        </p:nvSpPr>
        <p:spPr>
          <a:xfrm rot="16200000">
            <a:off x="6022838" y="4666041"/>
            <a:ext cx="57579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/>
              <a:t>Rome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89887C-A397-6867-BA69-E184A3430739}"/>
              </a:ext>
            </a:extLst>
          </p:cNvPr>
          <p:cNvSpPr txBox="1"/>
          <p:nvPr/>
        </p:nvSpPr>
        <p:spPr>
          <a:xfrm rot="16200000">
            <a:off x="6566027" y="4653216"/>
            <a:ext cx="55015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/>
              <a:t>Milan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96CAD6-5CAC-441E-C87B-B61F1C152CE8}"/>
              </a:ext>
            </a:extLst>
          </p:cNvPr>
          <p:cNvSpPr txBox="1"/>
          <p:nvPr/>
        </p:nvSpPr>
        <p:spPr>
          <a:xfrm rot="16200000">
            <a:off x="7046989" y="4694829"/>
            <a:ext cx="63337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/>
              <a:t>Venice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15090E-6EF8-F842-B12C-78CF27FEA5D0}"/>
              </a:ext>
            </a:extLst>
          </p:cNvPr>
          <p:cNvSpPr txBox="1"/>
          <p:nvPr/>
        </p:nvSpPr>
        <p:spPr>
          <a:xfrm rot="16200000">
            <a:off x="7502431" y="4756278"/>
            <a:ext cx="76764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200" dirty="0"/>
              <a:t>Florence</a:t>
            </a:r>
            <a:endParaRPr lang="en-US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5CFF34-F8C6-E0FF-6A2A-34499F15D922}"/>
              </a:ext>
            </a:extLst>
          </p:cNvPr>
          <p:cNvSpPr/>
          <p:nvPr/>
        </p:nvSpPr>
        <p:spPr>
          <a:xfrm>
            <a:off x="6062392" y="2530627"/>
            <a:ext cx="2076532" cy="2684839"/>
          </a:xfrm>
          <a:prstGeom prst="rect">
            <a:avLst/>
          </a:prstGeom>
          <a:noFill/>
          <a:ln w="25400">
            <a:solidFill>
              <a:srgbClr val="00408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2DE38B-C1CB-5ED0-3F49-DCA0EAF9EAC7}"/>
              </a:ext>
            </a:extLst>
          </p:cNvPr>
          <p:cNvSpPr txBox="1"/>
          <p:nvPr/>
        </p:nvSpPr>
        <p:spPr>
          <a:xfrm rot="16200000">
            <a:off x="8575332" y="4723351"/>
            <a:ext cx="68640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050" dirty="0"/>
              <a:t>Bologna</a:t>
            </a:r>
            <a:endParaRPr lang="en-US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F5C3BB-7AC7-C0D1-75FF-05225901FB88}"/>
              </a:ext>
            </a:extLst>
          </p:cNvPr>
          <p:cNvSpPr txBox="1"/>
          <p:nvPr/>
        </p:nvSpPr>
        <p:spPr>
          <a:xfrm rot="16200000">
            <a:off x="8123884" y="4659872"/>
            <a:ext cx="551754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050" dirty="0"/>
              <a:t>Rimini</a:t>
            </a:r>
            <a:endParaRPr lang="en-US" sz="10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ABED8F-D858-4A74-D363-82E784A70C29}"/>
              </a:ext>
            </a:extLst>
          </p:cNvPr>
          <p:cNvSpPr txBox="1"/>
          <p:nvPr/>
        </p:nvSpPr>
        <p:spPr>
          <a:xfrm rot="16200000">
            <a:off x="9163663" y="4659186"/>
            <a:ext cx="546945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050" dirty="0"/>
              <a:t>Torino</a:t>
            </a:r>
            <a:endParaRPr 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4142F0-F1D1-0526-2DAE-3AF2CE268ACF}"/>
              </a:ext>
            </a:extLst>
          </p:cNvPr>
          <p:cNvSpPr txBox="1"/>
          <p:nvPr/>
        </p:nvSpPr>
        <p:spPr>
          <a:xfrm rot="16200000">
            <a:off x="9654008" y="4683116"/>
            <a:ext cx="598241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050" dirty="0"/>
              <a:t>Naples</a:t>
            </a:r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F52754-6A99-EF55-CB27-E6A4203B21D4}"/>
              </a:ext>
            </a:extLst>
          </p:cNvPr>
          <p:cNvSpPr txBox="1"/>
          <p:nvPr/>
        </p:nvSpPr>
        <p:spPr>
          <a:xfrm rot="16200000">
            <a:off x="10168826" y="4686896"/>
            <a:ext cx="598241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050" dirty="0"/>
              <a:t>Verona</a:t>
            </a:r>
            <a:endParaRPr lang="en-US" sz="105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CF185E-65E4-7B41-5847-294B99465C09}"/>
              </a:ext>
            </a:extLst>
          </p:cNvPr>
          <p:cNvSpPr txBox="1"/>
          <p:nvPr/>
        </p:nvSpPr>
        <p:spPr>
          <a:xfrm rot="16200000">
            <a:off x="10742043" y="4665623"/>
            <a:ext cx="548548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050" dirty="0" err="1"/>
              <a:t>Jesolo</a:t>
            </a:r>
            <a:endParaRPr 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C6CC3E-F469-21F1-F802-527BF59F35AD}"/>
              </a:ext>
            </a:extLst>
          </p:cNvPr>
          <p:cNvSpPr txBox="1"/>
          <p:nvPr/>
        </p:nvSpPr>
        <p:spPr>
          <a:xfrm rot="16200000">
            <a:off x="11047354" y="4874814"/>
            <a:ext cx="966931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AR" sz="1050" dirty="0"/>
              <a:t>Ascoli Piceno</a:t>
            </a:r>
            <a:endParaRPr lang="en-US" sz="10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B98EE5-20C3-CFFC-3245-24BE9948B314}"/>
              </a:ext>
            </a:extLst>
          </p:cNvPr>
          <p:cNvSpPr txBox="1"/>
          <p:nvPr/>
        </p:nvSpPr>
        <p:spPr>
          <a:xfrm>
            <a:off x="5943293" y="5487355"/>
            <a:ext cx="50243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Arial" panose="020B0604020202020204" pitchFamily="34" charset="0"/>
                <a:cs typeface="Arial" panose="020B0604020202020204" pitchFamily="34" charset="0"/>
              </a:rPr>
              <a:t>Total Arrivals by Comuna (2019 vs 2024). Source: ISTAT.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19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D8AE0-04A4-BB39-2F44-9A77F7A8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43,800+ Circle World Map Stock Photos, Pictures &amp; Royalty-Free Images -  iStock">
            <a:extLst>
              <a:ext uri="{FF2B5EF4-FFF2-40B4-BE49-F238E27FC236}">
                <a16:creationId xmlns:a16="http://schemas.microsoft.com/office/drawing/2014/main" id="{EC1F9676-5275-87CA-411B-9192B5C92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34" y="1165143"/>
            <a:ext cx="5042833" cy="504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7BE77D3-B2D1-5960-529C-BE95CAD82922}"/>
              </a:ext>
            </a:extLst>
          </p:cNvPr>
          <p:cNvSpPr/>
          <p:nvPr/>
        </p:nvSpPr>
        <p:spPr>
          <a:xfrm>
            <a:off x="880533" y="1373350"/>
            <a:ext cx="4692453" cy="4646450"/>
          </a:xfrm>
          <a:prstGeom prst="ellipse">
            <a:avLst/>
          </a:prstGeom>
          <a:solidFill>
            <a:srgbClr val="DBE3EB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F251E8-9739-C6E1-4364-E1115E8E0357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72B788-E4C4-FA4A-C8EF-55DDB8594D23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C6200-04BF-56A8-57EE-02E438D91AEA}"/>
              </a:ext>
            </a:extLst>
          </p:cNvPr>
          <p:cNvSpPr txBox="1"/>
          <p:nvPr/>
        </p:nvSpPr>
        <p:spPr>
          <a:xfrm>
            <a:off x="0" y="179099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B52EF9AC-397A-59DD-F5B6-51B871649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53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72136B-153E-25A3-0ED5-025336981231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3DE7B-8CA3-7531-9CB8-E543A24A2238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C32C64-FC9D-63C5-824D-9714C97F0A03}"/>
              </a:ext>
            </a:extLst>
          </p:cNvPr>
          <p:cNvSpPr/>
          <p:nvPr/>
        </p:nvSpPr>
        <p:spPr>
          <a:xfrm>
            <a:off x="1589370" y="2059186"/>
            <a:ext cx="3274777" cy="3274777"/>
          </a:xfrm>
          <a:prstGeom prst="ellipse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D19BA5F-5AF1-5F7B-BB15-D9DB187E728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53321" y="2803461"/>
            <a:ext cx="1946871" cy="22959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28E9F5-F38C-C8CD-1210-56F85C5B29C4}"/>
              </a:ext>
            </a:extLst>
          </p:cNvPr>
          <p:cNvSpPr txBox="1"/>
          <p:nvPr/>
        </p:nvSpPr>
        <p:spPr>
          <a:xfrm>
            <a:off x="2121858" y="2318681"/>
            <a:ext cx="2209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</a:t>
            </a:r>
            <a:r>
              <a:rPr lang="es-A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D4308D0-A993-5AFD-C084-C856BF9E612D}"/>
              </a:ext>
            </a:extLst>
          </p:cNvPr>
          <p:cNvCxnSpPr>
            <a:cxnSpLocks/>
            <a:stCxn id="11" idx="6"/>
            <a:endCxn id="19" idx="1"/>
          </p:cNvCxnSpPr>
          <p:nvPr/>
        </p:nvCxnSpPr>
        <p:spPr>
          <a:xfrm flipV="1">
            <a:off x="4864147" y="1557754"/>
            <a:ext cx="1231853" cy="2138821"/>
          </a:xfrm>
          <a:prstGeom prst="bentConnector3">
            <a:avLst>
              <a:gd name="adj1" fmla="val 65121"/>
            </a:avLst>
          </a:prstGeom>
          <a:ln w="38100">
            <a:solidFill>
              <a:srgbClr val="8AA8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17C0F99-B2BD-73E3-F6B2-15205F9F1C56}"/>
              </a:ext>
            </a:extLst>
          </p:cNvPr>
          <p:cNvSpPr txBox="1"/>
          <p:nvPr/>
        </p:nvSpPr>
        <p:spPr>
          <a:xfrm>
            <a:off x="6096000" y="1388477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Italy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ranks among the world’s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Top 5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destinations.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CF1708-1D04-225D-BBAE-65ACEF3FD3CA}"/>
              </a:ext>
            </a:extLst>
          </p:cNvPr>
          <p:cNvSpPr txBox="1"/>
          <p:nvPr/>
        </p:nvSpPr>
        <p:spPr>
          <a:xfrm>
            <a:off x="6095999" y="1979283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Top 4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cities account for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19%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all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tourist arrivals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9366956-8B65-FDDC-131F-B7FD2198757E}"/>
              </a:ext>
            </a:extLst>
          </p:cNvPr>
          <p:cNvCxnSpPr>
            <a:cxnSpLocks/>
            <a:stCxn id="11" idx="6"/>
            <a:endCxn id="2" idx="1"/>
          </p:cNvCxnSpPr>
          <p:nvPr/>
        </p:nvCxnSpPr>
        <p:spPr>
          <a:xfrm flipV="1">
            <a:off x="4864147" y="2148560"/>
            <a:ext cx="1231852" cy="1548015"/>
          </a:xfrm>
          <a:prstGeom prst="bentConnector3">
            <a:avLst>
              <a:gd name="adj1" fmla="val 65121"/>
            </a:avLst>
          </a:prstGeom>
          <a:ln w="38100">
            <a:solidFill>
              <a:srgbClr val="8AA8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0F79D1D-FC74-1FE2-361B-FBA2F770447F}"/>
              </a:ext>
            </a:extLst>
          </p:cNvPr>
          <p:cNvSpPr txBox="1"/>
          <p:nvPr/>
        </p:nvSpPr>
        <p:spPr>
          <a:xfrm>
            <a:off x="6095998" y="2570089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Declining seasonality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year-round destination.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D424586-B531-9E4A-C207-323CA173B586}"/>
              </a:ext>
            </a:extLst>
          </p:cNvPr>
          <p:cNvCxnSpPr>
            <a:cxnSpLocks/>
            <a:stCxn id="11" idx="6"/>
            <a:endCxn id="12" idx="1"/>
          </p:cNvCxnSpPr>
          <p:nvPr/>
        </p:nvCxnSpPr>
        <p:spPr>
          <a:xfrm flipV="1">
            <a:off x="4864147" y="2739366"/>
            <a:ext cx="1231851" cy="957209"/>
          </a:xfrm>
          <a:prstGeom prst="bentConnector3">
            <a:avLst>
              <a:gd name="adj1" fmla="val 65808"/>
            </a:avLst>
          </a:prstGeom>
          <a:ln w="38100">
            <a:solidFill>
              <a:srgbClr val="004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355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777A4-ED8A-0A86-1A98-47E8044B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43,800+ Circle World Map Stock Photos, Pictures &amp; Royalty-Free Images -  iStock">
            <a:extLst>
              <a:ext uri="{FF2B5EF4-FFF2-40B4-BE49-F238E27FC236}">
                <a16:creationId xmlns:a16="http://schemas.microsoft.com/office/drawing/2014/main" id="{A42B0859-2ACD-0F6A-5D3F-61709A4B2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34" y="1165143"/>
            <a:ext cx="5042833" cy="504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76F742C-174D-0D65-5B70-93A57D8243F7}"/>
              </a:ext>
            </a:extLst>
          </p:cNvPr>
          <p:cNvSpPr/>
          <p:nvPr/>
        </p:nvSpPr>
        <p:spPr>
          <a:xfrm>
            <a:off x="880533" y="1373350"/>
            <a:ext cx="4692453" cy="4646450"/>
          </a:xfrm>
          <a:prstGeom prst="ellipse">
            <a:avLst/>
          </a:prstGeom>
          <a:solidFill>
            <a:srgbClr val="DBE3EB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62153A-D704-C12E-8919-2E48CAB1CEF5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01CEBE-B655-EFC3-469E-BB041715F26C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B7EC33-F7CA-5F85-76C4-EC2F5AED3E35}"/>
              </a:ext>
            </a:extLst>
          </p:cNvPr>
          <p:cNvSpPr txBox="1"/>
          <p:nvPr/>
        </p:nvSpPr>
        <p:spPr>
          <a:xfrm>
            <a:off x="0" y="179099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41F77BF8-78F8-E4A6-ADF9-BA608E297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53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C527DE-861F-7060-3CF7-1BBCF09E8034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B4973-43E8-318C-61FD-8B66CC1AB0A1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606716-BECC-FA86-5861-B5C826193F0D}"/>
              </a:ext>
            </a:extLst>
          </p:cNvPr>
          <p:cNvSpPr/>
          <p:nvPr/>
        </p:nvSpPr>
        <p:spPr>
          <a:xfrm>
            <a:off x="1589370" y="2059186"/>
            <a:ext cx="3274777" cy="3274777"/>
          </a:xfrm>
          <a:prstGeom prst="ellipse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8D987A-D997-C6F1-8BF8-84BF3E11D28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53321" y="2803461"/>
            <a:ext cx="1946871" cy="229594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7362A5-EB1D-7646-310E-8159613BA473}"/>
              </a:ext>
            </a:extLst>
          </p:cNvPr>
          <p:cNvSpPr txBox="1"/>
          <p:nvPr/>
        </p:nvSpPr>
        <p:spPr>
          <a:xfrm>
            <a:off x="6096000" y="1388477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544th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2024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43,873 arrivals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+18%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vs 2019)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FE85B3-B531-02ED-2DF5-6892F3762FE8}"/>
              </a:ext>
            </a:extLst>
          </p:cNvPr>
          <p:cNvSpPr txBox="1"/>
          <p:nvPr/>
        </p:nvSpPr>
        <p:spPr>
          <a:xfrm>
            <a:off x="2121858" y="2318681"/>
            <a:ext cx="2209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</a:t>
            </a:r>
            <a:r>
              <a:rPr lang="es-A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95AB8A-B02E-11B6-A913-4BAD92EA9CE3}"/>
              </a:ext>
            </a:extLst>
          </p:cNvPr>
          <p:cNvSpPr/>
          <p:nvPr/>
        </p:nvSpPr>
        <p:spPr>
          <a:xfrm>
            <a:off x="1572435" y="2057852"/>
            <a:ext cx="3312000" cy="3276000"/>
          </a:xfrm>
          <a:prstGeom prst="ellipse">
            <a:avLst/>
          </a:prstGeom>
          <a:solidFill>
            <a:srgbClr val="DBE3EB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E63E7F6-EBD2-8F60-0829-A8B45A81EB1A}"/>
              </a:ext>
            </a:extLst>
          </p:cNvPr>
          <p:cNvSpPr/>
          <p:nvPr/>
        </p:nvSpPr>
        <p:spPr>
          <a:xfrm>
            <a:off x="2198953" y="2668046"/>
            <a:ext cx="2055611" cy="2055611"/>
          </a:xfrm>
          <a:prstGeom prst="ellipse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523C19-8521-D653-1F05-0A198EE83803}"/>
              </a:ext>
            </a:extLst>
          </p:cNvPr>
          <p:cNvSpPr txBox="1"/>
          <p:nvPr/>
        </p:nvSpPr>
        <p:spPr>
          <a:xfrm>
            <a:off x="2309379" y="3017915"/>
            <a:ext cx="1866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Ascoli Piceno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4" name="Picture 4" descr="PARTNERS OLD - DIRE FARE">
            <a:extLst>
              <a:ext uri="{FF2B5EF4-FFF2-40B4-BE49-F238E27FC236}">
                <a16:creationId xmlns:a16="http://schemas.microsoft.com/office/drawing/2014/main" id="{C2CEE64A-E9DF-EEC8-6147-19C3E4FC7C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8" r="28063" b="22609"/>
          <a:stretch>
            <a:fillRect/>
          </a:stretch>
        </p:blipFill>
        <p:spPr bwMode="auto">
          <a:xfrm>
            <a:off x="2792023" y="3418025"/>
            <a:ext cx="900927" cy="1048928"/>
          </a:xfrm>
          <a:prstGeom prst="rect">
            <a:avLst/>
          </a:prstGeom>
          <a:noFill/>
          <a:effectLst>
            <a:glow rad="76200">
              <a:schemeClr val="bg1">
                <a:alpha val="53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615412E-71CD-8785-2395-43CBF3C0EE4F}"/>
              </a:ext>
            </a:extLst>
          </p:cNvPr>
          <p:cNvCxnSpPr>
            <a:cxnSpLocks/>
            <a:stCxn id="15" idx="6"/>
            <a:endCxn id="19" idx="1"/>
          </p:cNvCxnSpPr>
          <p:nvPr/>
        </p:nvCxnSpPr>
        <p:spPr>
          <a:xfrm flipV="1">
            <a:off x="4254564" y="1557754"/>
            <a:ext cx="1841436" cy="2138098"/>
          </a:xfrm>
          <a:prstGeom prst="bentConnector3">
            <a:avLst>
              <a:gd name="adj1" fmla="val 77127"/>
            </a:avLst>
          </a:prstGeom>
          <a:ln w="38100">
            <a:solidFill>
              <a:srgbClr val="004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36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E9F8A-E16A-60C2-E902-BDD17AB1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43,800+ Circle World Map Stock Photos, Pictures &amp; Royalty-Free Images -  iStock">
            <a:extLst>
              <a:ext uri="{FF2B5EF4-FFF2-40B4-BE49-F238E27FC236}">
                <a16:creationId xmlns:a16="http://schemas.microsoft.com/office/drawing/2014/main" id="{6FA3A349-9ADB-61A0-224D-B854C724A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34" y="1165143"/>
            <a:ext cx="5042833" cy="504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D7656CF-683F-D9CE-47AB-3FCB0609CEEF}"/>
              </a:ext>
            </a:extLst>
          </p:cNvPr>
          <p:cNvSpPr/>
          <p:nvPr/>
        </p:nvSpPr>
        <p:spPr>
          <a:xfrm>
            <a:off x="880533" y="1373350"/>
            <a:ext cx="4692453" cy="4646450"/>
          </a:xfrm>
          <a:prstGeom prst="ellipse">
            <a:avLst/>
          </a:prstGeom>
          <a:solidFill>
            <a:srgbClr val="DBE3EB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8CE15F-ED35-AEF3-304E-D12C4E2CB907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6EC138-B09E-95AD-99E6-C5F7AEB39696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964E4-A6F1-CEBD-8362-27209E070A35}"/>
              </a:ext>
            </a:extLst>
          </p:cNvPr>
          <p:cNvSpPr txBox="1"/>
          <p:nvPr/>
        </p:nvSpPr>
        <p:spPr>
          <a:xfrm>
            <a:off x="0" y="179099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EB064C3C-2222-D472-AC8E-5C8F4A705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53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BA0822-1786-6DD3-9C54-9940320274CF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33373-CE45-E69E-E5B1-02C7268B6901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4B662AB-3207-8C43-3006-8E1596C83EEC}"/>
              </a:ext>
            </a:extLst>
          </p:cNvPr>
          <p:cNvSpPr/>
          <p:nvPr/>
        </p:nvSpPr>
        <p:spPr>
          <a:xfrm>
            <a:off x="1589370" y="2059186"/>
            <a:ext cx="3274777" cy="3274777"/>
          </a:xfrm>
          <a:prstGeom prst="ellipse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808FE7-639C-F3E2-F063-F2F05D3FFE0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53321" y="2803461"/>
            <a:ext cx="1946871" cy="229594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09C5414-8B88-958D-6662-9103984C6E2E}"/>
              </a:ext>
            </a:extLst>
          </p:cNvPr>
          <p:cNvSpPr txBox="1"/>
          <p:nvPr/>
        </p:nvSpPr>
        <p:spPr>
          <a:xfrm>
            <a:off x="6096000" y="1388477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544th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2024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43,873 arrivals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+18%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vs 2019)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10F4A2-8BDE-DC78-0775-20B52BEB4405}"/>
              </a:ext>
            </a:extLst>
          </p:cNvPr>
          <p:cNvSpPr txBox="1"/>
          <p:nvPr/>
        </p:nvSpPr>
        <p:spPr>
          <a:xfrm>
            <a:off x="2121858" y="2318681"/>
            <a:ext cx="2209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</a:t>
            </a:r>
            <a:r>
              <a:rPr lang="es-A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6B3FA11-1159-C7EA-99A4-BFD15EDF744D}"/>
              </a:ext>
            </a:extLst>
          </p:cNvPr>
          <p:cNvSpPr/>
          <p:nvPr/>
        </p:nvSpPr>
        <p:spPr>
          <a:xfrm>
            <a:off x="1572435" y="2057852"/>
            <a:ext cx="3312000" cy="3276000"/>
          </a:xfrm>
          <a:prstGeom prst="ellipse">
            <a:avLst/>
          </a:prstGeom>
          <a:solidFill>
            <a:srgbClr val="DBE3EB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50B219-1C39-F044-9164-25E8365E48FA}"/>
              </a:ext>
            </a:extLst>
          </p:cNvPr>
          <p:cNvSpPr/>
          <p:nvPr/>
        </p:nvSpPr>
        <p:spPr>
          <a:xfrm>
            <a:off x="2198953" y="2668046"/>
            <a:ext cx="2055611" cy="2055611"/>
          </a:xfrm>
          <a:prstGeom prst="ellipse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9464A2-001A-ED9A-BCB1-BD5001A5906E}"/>
              </a:ext>
            </a:extLst>
          </p:cNvPr>
          <p:cNvSpPr txBox="1"/>
          <p:nvPr/>
        </p:nvSpPr>
        <p:spPr>
          <a:xfrm>
            <a:off x="2309379" y="3017915"/>
            <a:ext cx="1866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Ascoli Piceno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4" name="Picture 4" descr="PARTNERS OLD - DIRE FARE">
            <a:extLst>
              <a:ext uri="{FF2B5EF4-FFF2-40B4-BE49-F238E27FC236}">
                <a16:creationId xmlns:a16="http://schemas.microsoft.com/office/drawing/2014/main" id="{21BD4F6C-0104-9553-1090-27D2FB19EF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8" r="28063" b="22609"/>
          <a:stretch>
            <a:fillRect/>
          </a:stretch>
        </p:blipFill>
        <p:spPr bwMode="auto">
          <a:xfrm>
            <a:off x="2792023" y="3418025"/>
            <a:ext cx="900927" cy="1048928"/>
          </a:xfrm>
          <a:prstGeom prst="rect">
            <a:avLst/>
          </a:prstGeom>
          <a:noFill/>
          <a:effectLst>
            <a:glow rad="76200">
              <a:schemeClr val="bg1">
                <a:alpha val="53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813F33-0EE7-E339-620F-384A895723A3}"/>
              </a:ext>
            </a:extLst>
          </p:cNvPr>
          <p:cNvSpPr txBox="1"/>
          <p:nvPr/>
        </p:nvSpPr>
        <p:spPr>
          <a:xfrm>
            <a:off x="6095999" y="1979283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70%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tourists visit only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1%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Italy’s territory.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7350088-61B5-7BE4-CFC1-972685C93235}"/>
              </a:ext>
            </a:extLst>
          </p:cNvPr>
          <p:cNvCxnSpPr>
            <a:cxnSpLocks/>
          </p:cNvCxnSpPr>
          <p:nvPr/>
        </p:nvCxnSpPr>
        <p:spPr>
          <a:xfrm flipV="1">
            <a:off x="4254564" y="1557754"/>
            <a:ext cx="1841436" cy="2138098"/>
          </a:xfrm>
          <a:prstGeom prst="bentConnector3">
            <a:avLst>
              <a:gd name="adj1" fmla="val 77127"/>
            </a:avLst>
          </a:prstGeom>
          <a:ln w="38100">
            <a:solidFill>
              <a:srgbClr val="8AA8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300762C-50E8-AF6E-BDBE-C5EFA678D210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4254564" y="2148560"/>
            <a:ext cx="1841435" cy="1547292"/>
          </a:xfrm>
          <a:prstGeom prst="bentConnector3">
            <a:avLst>
              <a:gd name="adj1" fmla="val 77127"/>
            </a:avLst>
          </a:prstGeom>
          <a:ln w="38100">
            <a:solidFill>
              <a:srgbClr val="004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CD130E00-5AAF-4B92-1D13-0A8DDCC3CA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366" y="2514953"/>
            <a:ext cx="5829023" cy="57701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DD10F7A-E941-DEBA-32EF-E7E115611629}"/>
              </a:ext>
            </a:extLst>
          </p:cNvPr>
          <p:cNvSpPr txBox="1"/>
          <p:nvPr/>
        </p:nvSpPr>
        <p:spPr>
          <a:xfrm>
            <a:off x="5888982" y="3134287"/>
            <a:ext cx="50243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Arial" panose="020B0604020202020204" pitchFamily="34" charset="0"/>
                <a:cs typeface="Arial" panose="020B0604020202020204" pitchFamily="34" charset="0"/>
              </a:rPr>
              <a:t>Residents and Non-Residents Arrivals in Ascoli Piceno (2024). Source: ISTAT.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350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7494C-39FA-EBC4-73E2-3A5DFC54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43,800+ Circle World Map Stock Photos, Pictures &amp; Royalty-Free Images -  iStock">
            <a:extLst>
              <a:ext uri="{FF2B5EF4-FFF2-40B4-BE49-F238E27FC236}">
                <a16:creationId xmlns:a16="http://schemas.microsoft.com/office/drawing/2014/main" id="{D31FA243-9DFC-59CD-61D0-B9F9B24F0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34" y="1165143"/>
            <a:ext cx="5042833" cy="504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ADCF981-E966-60ED-466C-9ADB35852442}"/>
              </a:ext>
            </a:extLst>
          </p:cNvPr>
          <p:cNvSpPr/>
          <p:nvPr/>
        </p:nvSpPr>
        <p:spPr>
          <a:xfrm>
            <a:off x="880533" y="1373350"/>
            <a:ext cx="4692453" cy="4646450"/>
          </a:xfrm>
          <a:prstGeom prst="ellipse">
            <a:avLst/>
          </a:prstGeom>
          <a:solidFill>
            <a:srgbClr val="DBE3EB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C04914-6D32-D917-8473-C5BB7CBE6C13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3BE4A-DA2E-F641-9512-5D2DC9BB0858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B00AF-DB3C-E43D-F896-374EA49E88CF}"/>
              </a:ext>
            </a:extLst>
          </p:cNvPr>
          <p:cNvSpPr txBox="1"/>
          <p:nvPr/>
        </p:nvSpPr>
        <p:spPr>
          <a:xfrm>
            <a:off x="0" y="179099"/>
            <a:ext cx="170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DA7F6C67-6DED-01D1-165F-67542DC02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153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F2F712-018E-B9DC-4165-8EA5ADC5A1F9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FFCD3-29A5-656C-82E8-0667E145BBE1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7E013C1-7108-0597-54D7-A1080A42FFA6}"/>
              </a:ext>
            </a:extLst>
          </p:cNvPr>
          <p:cNvSpPr/>
          <p:nvPr/>
        </p:nvSpPr>
        <p:spPr>
          <a:xfrm>
            <a:off x="1589370" y="2059186"/>
            <a:ext cx="3274777" cy="3274777"/>
          </a:xfrm>
          <a:prstGeom prst="ellipse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FF3922-DF58-EA22-EE29-63467194305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53321" y="2803461"/>
            <a:ext cx="1946871" cy="229594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3AAABD-8998-2ED8-63E6-C96EFC3414AF}"/>
              </a:ext>
            </a:extLst>
          </p:cNvPr>
          <p:cNvSpPr txBox="1"/>
          <p:nvPr/>
        </p:nvSpPr>
        <p:spPr>
          <a:xfrm>
            <a:off x="6096000" y="1388477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544th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2024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43,873 arrivals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+18%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vs 2019)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230D3A-C15D-669C-AEA1-07CA9A492203}"/>
              </a:ext>
            </a:extLst>
          </p:cNvPr>
          <p:cNvSpPr txBox="1"/>
          <p:nvPr/>
        </p:nvSpPr>
        <p:spPr>
          <a:xfrm>
            <a:off x="2121858" y="2318681"/>
            <a:ext cx="2209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</a:t>
            </a:r>
            <a:r>
              <a:rPr lang="es-A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C54A50-16CE-DEFD-5EDD-0F8C8B291287}"/>
              </a:ext>
            </a:extLst>
          </p:cNvPr>
          <p:cNvSpPr/>
          <p:nvPr/>
        </p:nvSpPr>
        <p:spPr>
          <a:xfrm>
            <a:off x="1572435" y="2057852"/>
            <a:ext cx="3312000" cy="3276000"/>
          </a:xfrm>
          <a:prstGeom prst="ellipse">
            <a:avLst/>
          </a:prstGeom>
          <a:solidFill>
            <a:srgbClr val="DBE3EB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AB377AB-8B46-2FED-8B77-0A722CAA3463}"/>
              </a:ext>
            </a:extLst>
          </p:cNvPr>
          <p:cNvSpPr/>
          <p:nvPr/>
        </p:nvSpPr>
        <p:spPr>
          <a:xfrm>
            <a:off x="2198953" y="2668046"/>
            <a:ext cx="2055611" cy="2055611"/>
          </a:xfrm>
          <a:prstGeom prst="ellipse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F7AE16-F3BC-2300-6388-97A7F6A3B93D}"/>
              </a:ext>
            </a:extLst>
          </p:cNvPr>
          <p:cNvSpPr txBox="1"/>
          <p:nvPr/>
        </p:nvSpPr>
        <p:spPr>
          <a:xfrm>
            <a:off x="2309379" y="3017915"/>
            <a:ext cx="1866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Ascoli Piceno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4" name="Picture 4" descr="PARTNERS OLD - DIRE FARE">
            <a:extLst>
              <a:ext uri="{FF2B5EF4-FFF2-40B4-BE49-F238E27FC236}">
                <a16:creationId xmlns:a16="http://schemas.microsoft.com/office/drawing/2014/main" id="{02D4B2FD-0A9D-1321-0B76-1A55C923B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8" r="28063" b="22609"/>
          <a:stretch>
            <a:fillRect/>
          </a:stretch>
        </p:blipFill>
        <p:spPr bwMode="auto">
          <a:xfrm>
            <a:off x="2792023" y="3418025"/>
            <a:ext cx="900927" cy="1048928"/>
          </a:xfrm>
          <a:prstGeom prst="rect">
            <a:avLst/>
          </a:prstGeom>
          <a:noFill/>
          <a:effectLst>
            <a:glow rad="76200">
              <a:schemeClr val="bg1">
                <a:alpha val="53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6777D9-362C-E1FE-010D-AAB5690F46C7}"/>
              </a:ext>
            </a:extLst>
          </p:cNvPr>
          <p:cNvSpPr txBox="1"/>
          <p:nvPr/>
        </p:nvSpPr>
        <p:spPr>
          <a:xfrm>
            <a:off x="6095999" y="1979283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70%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tourists visit only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1%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Italy’s territory.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2CC1E0A-1CF2-F456-07A1-32041A26FFD5}"/>
              </a:ext>
            </a:extLst>
          </p:cNvPr>
          <p:cNvCxnSpPr>
            <a:cxnSpLocks/>
          </p:cNvCxnSpPr>
          <p:nvPr/>
        </p:nvCxnSpPr>
        <p:spPr>
          <a:xfrm flipV="1">
            <a:off x="4254564" y="1557754"/>
            <a:ext cx="1841436" cy="2138098"/>
          </a:xfrm>
          <a:prstGeom prst="bentConnector3">
            <a:avLst>
              <a:gd name="adj1" fmla="val 77127"/>
            </a:avLst>
          </a:prstGeom>
          <a:ln w="38100">
            <a:solidFill>
              <a:srgbClr val="8AA8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D6A5715-976C-7529-91B1-F1E5BE2FA7FC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4254564" y="2148560"/>
            <a:ext cx="1841435" cy="1547292"/>
          </a:xfrm>
          <a:prstGeom prst="bentConnector3">
            <a:avLst>
              <a:gd name="adj1" fmla="val 77127"/>
            </a:avLst>
          </a:prstGeom>
          <a:ln w="38100">
            <a:solidFill>
              <a:srgbClr val="8AA8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3838C62-55E0-B04E-0AE3-04245E63EE23}"/>
              </a:ext>
            </a:extLst>
          </p:cNvPr>
          <p:cNvSpPr txBox="1"/>
          <p:nvPr/>
        </p:nvSpPr>
        <p:spPr>
          <a:xfrm>
            <a:off x="6095998" y="2570089"/>
            <a:ext cx="599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Overtourism: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Ascoli Piceno’s Opportunity?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7AEDF19-7336-7464-B638-94D21854B1D3}"/>
              </a:ext>
            </a:extLst>
          </p:cNvPr>
          <p:cNvCxnSpPr>
            <a:cxnSpLocks/>
            <a:stCxn id="15" idx="6"/>
            <a:endCxn id="3" idx="1"/>
          </p:cNvCxnSpPr>
          <p:nvPr/>
        </p:nvCxnSpPr>
        <p:spPr>
          <a:xfrm flipV="1">
            <a:off x="4254564" y="2739366"/>
            <a:ext cx="1841434" cy="956486"/>
          </a:xfrm>
          <a:prstGeom prst="bentConnector3">
            <a:avLst>
              <a:gd name="adj1" fmla="val 77127"/>
            </a:avLst>
          </a:prstGeom>
          <a:ln w="38100">
            <a:solidFill>
              <a:srgbClr val="0040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951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82960-72C8-A249-A7D9-19EE035B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1EC97B-4DBD-AFF8-B182-FC5BB3D47210}"/>
              </a:ext>
            </a:extLst>
          </p:cNvPr>
          <p:cNvSpPr/>
          <p:nvPr/>
        </p:nvSpPr>
        <p:spPr>
          <a:xfrm>
            <a:off x="0" y="6462711"/>
            <a:ext cx="12192000" cy="280989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E99F94-72AD-9008-6D5F-2B2ED3EDA823}"/>
              </a:ext>
            </a:extLst>
          </p:cNvPr>
          <p:cNvSpPr/>
          <p:nvPr/>
        </p:nvSpPr>
        <p:spPr>
          <a:xfrm>
            <a:off x="-1" y="95249"/>
            <a:ext cx="6581775" cy="752476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C8A21-E61D-E4D9-8092-3A44FB11E23D}"/>
              </a:ext>
            </a:extLst>
          </p:cNvPr>
          <p:cNvSpPr txBox="1"/>
          <p:nvPr/>
        </p:nvSpPr>
        <p:spPr>
          <a:xfrm>
            <a:off x="0" y="179099"/>
            <a:ext cx="3048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</a:t>
            </a:r>
            <a:r>
              <a:rPr lang="es-A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Sedi | Università degli Studi di Milano Statale">
            <a:extLst>
              <a:ext uri="{FF2B5EF4-FFF2-40B4-BE49-F238E27FC236}">
                <a16:creationId xmlns:a16="http://schemas.microsoft.com/office/drawing/2014/main" id="{EA8B5346-A22D-1942-B032-F2EECE898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88" y="95250"/>
            <a:ext cx="2239072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8A4362-E979-335A-D136-F127AD3F20B6}"/>
              </a:ext>
            </a:extLst>
          </p:cNvPr>
          <p:cNvSpPr txBox="1"/>
          <p:nvPr/>
        </p:nvSpPr>
        <p:spPr>
          <a:xfrm>
            <a:off x="0" y="6466701"/>
            <a:ext cx="3127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Franco BONIFACINI | DSE </a:t>
            </a:r>
            <a:r>
              <a:rPr lang="es-A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Thesis</a:t>
            </a:r>
            <a:r>
              <a:rPr lang="es-A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Defense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985E8-127E-EAAC-624D-957A431E3563}"/>
              </a:ext>
            </a:extLst>
          </p:cNvPr>
          <p:cNvSpPr txBox="1"/>
          <p:nvPr/>
        </p:nvSpPr>
        <p:spPr>
          <a:xfrm>
            <a:off x="11817599" y="64627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ardrop 2">
            <a:extLst>
              <a:ext uri="{FF2B5EF4-FFF2-40B4-BE49-F238E27FC236}">
                <a16:creationId xmlns:a16="http://schemas.microsoft.com/office/drawing/2014/main" id="{93C378EE-769A-B6FE-4CBC-F3B8BA76D6E3}"/>
              </a:ext>
            </a:extLst>
          </p:cNvPr>
          <p:cNvSpPr/>
          <p:nvPr/>
        </p:nvSpPr>
        <p:spPr>
          <a:xfrm rot="2636250">
            <a:off x="70252" y="2503629"/>
            <a:ext cx="1802174" cy="1802174"/>
          </a:xfrm>
          <a:prstGeom prst="teardrop">
            <a:avLst/>
          </a:prstGeom>
          <a:solidFill>
            <a:srgbClr val="004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9AC1D84D-7575-110B-5585-E4CA7B8C166F}"/>
              </a:ext>
            </a:extLst>
          </p:cNvPr>
          <p:cNvSpPr/>
          <p:nvPr/>
        </p:nvSpPr>
        <p:spPr>
          <a:xfrm rot="2636250">
            <a:off x="1734602" y="2503634"/>
            <a:ext cx="1802174" cy="1802174"/>
          </a:xfrm>
          <a:prstGeom prst="teardrop">
            <a:avLst/>
          </a:prstGeom>
          <a:solidFill>
            <a:srgbClr val="004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ardrop 11">
            <a:extLst>
              <a:ext uri="{FF2B5EF4-FFF2-40B4-BE49-F238E27FC236}">
                <a16:creationId xmlns:a16="http://schemas.microsoft.com/office/drawing/2014/main" id="{0C4CBBED-0426-D251-630D-D7BABF058759}"/>
              </a:ext>
            </a:extLst>
          </p:cNvPr>
          <p:cNvSpPr/>
          <p:nvPr/>
        </p:nvSpPr>
        <p:spPr>
          <a:xfrm rot="2636250">
            <a:off x="3355578" y="2503631"/>
            <a:ext cx="1802174" cy="1802174"/>
          </a:xfrm>
          <a:prstGeom prst="teardrop">
            <a:avLst/>
          </a:prstGeom>
          <a:solidFill>
            <a:srgbClr val="004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ardrop 13">
            <a:extLst>
              <a:ext uri="{FF2B5EF4-FFF2-40B4-BE49-F238E27FC236}">
                <a16:creationId xmlns:a16="http://schemas.microsoft.com/office/drawing/2014/main" id="{0106E5A4-EB36-D4B4-650F-0BEE6E657CD8}"/>
              </a:ext>
            </a:extLst>
          </p:cNvPr>
          <p:cNvSpPr/>
          <p:nvPr/>
        </p:nvSpPr>
        <p:spPr>
          <a:xfrm rot="2636250">
            <a:off x="5019927" y="2503633"/>
            <a:ext cx="1802174" cy="1802174"/>
          </a:xfrm>
          <a:prstGeom prst="teardrop">
            <a:avLst/>
          </a:prstGeom>
          <a:solidFill>
            <a:srgbClr val="004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Graphic 29" descr="Blog with solid fill">
            <a:extLst>
              <a:ext uri="{FF2B5EF4-FFF2-40B4-BE49-F238E27FC236}">
                <a16:creationId xmlns:a16="http://schemas.microsoft.com/office/drawing/2014/main" id="{FDF8D7A6-03DE-86D7-D00D-808BD4EE1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5569" y="2877731"/>
            <a:ext cx="1031053" cy="1031053"/>
          </a:xfrm>
          <a:prstGeom prst="rect">
            <a:avLst/>
          </a:prstGeom>
        </p:spPr>
      </p:pic>
      <p:sp>
        <p:nvSpPr>
          <p:cNvPr id="15" name="Teardrop 14">
            <a:extLst>
              <a:ext uri="{FF2B5EF4-FFF2-40B4-BE49-F238E27FC236}">
                <a16:creationId xmlns:a16="http://schemas.microsoft.com/office/drawing/2014/main" id="{34ED46E7-C455-2E4F-3583-2BC7E47D2209}"/>
              </a:ext>
            </a:extLst>
          </p:cNvPr>
          <p:cNvSpPr/>
          <p:nvPr/>
        </p:nvSpPr>
        <p:spPr>
          <a:xfrm rot="2636250">
            <a:off x="6634643" y="2499644"/>
            <a:ext cx="1802174" cy="1802174"/>
          </a:xfrm>
          <a:prstGeom prst="teardrop">
            <a:avLst/>
          </a:prstGeom>
          <a:solidFill>
            <a:srgbClr val="004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ardrop 15">
            <a:extLst>
              <a:ext uri="{FF2B5EF4-FFF2-40B4-BE49-F238E27FC236}">
                <a16:creationId xmlns:a16="http://schemas.microsoft.com/office/drawing/2014/main" id="{C0CC13BD-A638-49D6-27A7-43520A29D52F}"/>
              </a:ext>
            </a:extLst>
          </p:cNvPr>
          <p:cNvSpPr/>
          <p:nvPr/>
        </p:nvSpPr>
        <p:spPr>
          <a:xfrm rot="2636250">
            <a:off x="8298991" y="2503628"/>
            <a:ext cx="1802174" cy="1802174"/>
          </a:xfrm>
          <a:prstGeom prst="teardrop">
            <a:avLst/>
          </a:prstGeom>
          <a:solidFill>
            <a:srgbClr val="004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ardrop 16">
            <a:extLst>
              <a:ext uri="{FF2B5EF4-FFF2-40B4-BE49-F238E27FC236}">
                <a16:creationId xmlns:a16="http://schemas.microsoft.com/office/drawing/2014/main" id="{DC224DFD-217D-AC0C-B21C-B49BE2FC3936}"/>
              </a:ext>
            </a:extLst>
          </p:cNvPr>
          <p:cNvSpPr/>
          <p:nvPr/>
        </p:nvSpPr>
        <p:spPr>
          <a:xfrm rot="2636250">
            <a:off x="9913706" y="2507612"/>
            <a:ext cx="1802174" cy="1802174"/>
          </a:xfrm>
          <a:prstGeom prst="teardrop">
            <a:avLst/>
          </a:prstGeom>
          <a:solidFill>
            <a:srgbClr val="004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 descr="Bullseye with solid fill">
            <a:extLst>
              <a:ext uri="{FF2B5EF4-FFF2-40B4-BE49-F238E27FC236}">
                <a16:creationId xmlns:a16="http://schemas.microsoft.com/office/drawing/2014/main" id="{ED5A34AF-3A1E-D0F5-F661-E5EE9FAD26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350" y="2878667"/>
            <a:ext cx="1030180" cy="1030180"/>
          </a:xfrm>
          <a:prstGeom prst="rect">
            <a:avLst/>
          </a:prstGeom>
        </p:spPr>
      </p:pic>
      <p:pic>
        <p:nvPicPr>
          <p:cNvPr id="26" name="Graphic 25" descr="Questions with solid fill">
            <a:extLst>
              <a:ext uri="{FF2B5EF4-FFF2-40B4-BE49-F238E27FC236}">
                <a16:creationId xmlns:a16="http://schemas.microsoft.com/office/drawing/2014/main" id="{9491A4C7-FEB5-6282-6384-5A12555900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92766" y="2878665"/>
            <a:ext cx="1031053" cy="1031053"/>
          </a:xfrm>
          <a:prstGeom prst="rect">
            <a:avLst/>
          </a:prstGeom>
        </p:spPr>
      </p:pic>
      <p:pic>
        <p:nvPicPr>
          <p:cNvPr id="28" name="Graphic 27" descr="Clipboard Checked with solid fill">
            <a:extLst>
              <a:ext uri="{FF2B5EF4-FFF2-40B4-BE49-F238E27FC236}">
                <a16:creationId xmlns:a16="http://schemas.microsoft.com/office/drawing/2014/main" id="{7E53425B-785B-9327-F9E9-9DA74F945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07480" y="2877731"/>
            <a:ext cx="1031053" cy="1031053"/>
          </a:xfrm>
          <a:prstGeom prst="rect">
            <a:avLst/>
          </a:prstGeom>
        </p:spPr>
      </p:pic>
      <p:pic>
        <p:nvPicPr>
          <p:cNvPr id="32" name="Graphic 31" descr="Euro with solid fill">
            <a:extLst>
              <a:ext uri="{FF2B5EF4-FFF2-40B4-BE49-F238E27FC236}">
                <a16:creationId xmlns:a16="http://schemas.microsoft.com/office/drawing/2014/main" id="{3520570A-D466-6A3C-11C1-6CED55CDC7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23658" y="2877731"/>
            <a:ext cx="1031053" cy="1031053"/>
          </a:xfrm>
          <a:prstGeom prst="rect">
            <a:avLst/>
          </a:prstGeom>
        </p:spPr>
      </p:pic>
      <p:pic>
        <p:nvPicPr>
          <p:cNvPr id="34" name="Graphic 33" descr="Users with solid fill">
            <a:extLst>
              <a:ext uri="{FF2B5EF4-FFF2-40B4-BE49-F238E27FC236}">
                <a16:creationId xmlns:a16="http://schemas.microsoft.com/office/drawing/2014/main" id="{6C1E527F-2986-31EE-6E94-F1C88CD5273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49278" y="2842457"/>
            <a:ext cx="1101600" cy="1101600"/>
          </a:xfrm>
          <a:prstGeom prst="rect">
            <a:avLst/>
          </a:prstGeom>
        </p:spPr>
      </p:pic>
      <p:pic>
        <p:nvPicPr>
          <p:cNvPr id="36" name="Graphic 35" descr="World with solid fill">
            <a:extLst>
              <a:ext uri="{FF2B5EF4-FFF2-40B4-BE49-F238E27FC236}">
                <a16:creationId xmlns:a16="http://schemas.microsoft.com/office/drawing/2014/main" id="{B5B9ACD9-E942-3741-6478-BB1E1B7263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263993" y="2877731"/>
            <a:ext cx="1101600" cy="1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513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839F3-DA32-548D-7D80-0F056E59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E MIGLIORI 10 cose da vedere a Ascoli Piceno (2025)">
            <a:extLst>
              <a:ext uri="{FF2B5EF4-FFF2-40B4-BE49-F238E27FC236}">
                <a16:creationId xmlns:a16="http://schemas.microsoft.com/office/drawing/2014/main" id="{970C165F-0E4F-F123-7EEF-DB5AF6E35C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00"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person and person wearing helmets and standing on a bridge&#10;&#10;AI-generated content may be incorrect.">
            <a:extLst>
              <a:ext uri="{FF2B5EF4-FFF2-40B4-BE49-F238E27FC236}">
                <a16:creationId xmlns:a16="http://schemas.microsoft.com/office/drawing/2014/main" id="{B1D6839F-0FFF-DBF3-C414-590708D73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100" y="2914650"/>
            <a:ext cx="3987799" cy="2990849"/>
          </a:xfrm>
          <a:prstGeom prst="rect">
            <a:avLst/>
          </a:prstGeom>
          <a:ln w="190500" cap="sq">
            <a:solidFill>
              <a:srgbClr val="004082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265B211-C317-8AED-37FA-D4EE7231246D}"/>
              </a:ext>
            </a:extLst>
          </p:cNvPr>
          <p:cNvGrpSpPr/>
          <p:nvPr/>
        </p:nvGrpSpPr>
        <p:grpSpPr>
          <a:xfrm>
            <a:off x="4187825" y="3053834"/>
            <a:ext cx="1890128" cy="407432"/>
            <a:chOff x="4130675" y="3491984"/>
            <a:chExt cx="1890128" cy="407432"/>
          </a:xfrm>
        </p:grpSpPr>
        <p:pic>
          <p:nvPicPr>
            <p:cNvPr id="5" name="Graphic 4" descr="Marker with solid fill">
              <a:extLst>
                <a:ext uri="{FF2B5EF4-FFF2-40B4-BE49-F238E27FC236}">
                  <a16:creationId xmlns:a16="http://schemas.microsoft.com/office/drawing/2014/main" id="{5E69F725-BF34-EC09-FA0A-DDDE71476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30675" y="3491984"/>
              <a:ext cx="369332" cy="36933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126DBE-8A00-9D34-651F-C8F47DE34C07}"/>
                </a:ext>
              </a:extLst>
            </p:cNvPr>
            <p:cNvSpPr txBox="1"/>
            <p:nvPr/>
          </p:nvSpPr>
          <p:spPr>
            <a:xfrm>
              <a:off x="4406900" y="3530084"/>
              <a:ext cx="1613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AR" b="1" i="1" dirty="0"/>
                <a:t>Ascoli Piceno</a:t>
              </a:r>
              <a:endParaRPr lang="en-US" b="1" i="1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857B951-5668-D445-4DF5-24FC6634E23C}"/>
              </a:ext>
            </a:extLst>
          </p:cNvPr>
          <p:cNvGrpSpPr/>
          <p:nvPr/>
        </p:nvGrpSpPr>
        <p:grpSpPr>
          <a:xfrm>
            <a:off x="-1" y="1248817"/>
            <a:ext cx="12192001" cy="769441"/>
            <a:chOff x="-1" y="1353592"/>
            <a:chExt cx="12192001" cy="76944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97D197-C267-D486-DA96-1EC8AA89817B}"/>
                </a:ext>
              </a:extLst>
            </p:cNvPr>
            <p:cNvSpPr/>
            <p:nvPr/>
          </p:nvSpPr>
          <p:spPr>
            <a:xfrm>
              <a:off x="0" y="1353592"/>
              <a:ext cx="12192000" cy="769441"/>
            </a:xfrm>
            <a:prstGeom prst="rect">
              <a:avLst/>
            </a:prstGeom>
            <a:solidFill>
              <a:srgbClr val="0040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297361-448A-2F27-9153-5EFC784BA2D4}"/>
                </a:ext>
              </a:extLst>
            </p:cNvPr>
            <p:cNvSpPr txBox="1"/>
            <p:nvPr/>
          </p:nvSpPr>
          <p:spPr>
            <a:xfrm>
              <a:off x="-1" y="1353592"/>
              <a:ext cx="12192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THANK YOU!</a:t>
              </a:r>
              <a:endPara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4483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419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Bonifacini</dc:creator>
  <cp:lastModifiedBy>Franco Bonifacini</cp:lastModifiedBy>
  <cp:revision>11</cp:revision>
  <dcterms:created xsi:type="dcterms:W3CDTF">2025-10-07T16:49:29Z</dcterms:created>
  <dcterms:modified xsi:type="dcterms:W3CDTF">2025-10-08T08:19:46Z</dcterms:modified>
</cp:coreProperties>
</file>